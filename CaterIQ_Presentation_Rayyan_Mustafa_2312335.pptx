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8655" cy="466344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463040"/>
            <a:ext cx="3840480" cy="36576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  ARTIFICIAL INTELLIGENCE LAB — SEMESTER PROJECT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1168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CaterIQ: AI Catering Intelligence Studio</a:t>
            </a:r>
          </a:p>
          <a:p>
            <a:pPr>
              <a:spcBef>
                <a:spcPts val="1000"/>
              </a:spcBef>
              <a:defRPr sz="1800">
                <a:solidFill>
                  <a:srgbClr val="38BDF8"/>
                </a:solidFill>
              </a:defRPr>
            </a:pPr>
            <a:r>
              <a:t>Uninformed State-Space Search (BFS &amp; DFS) for Real-World Catering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931920"/>
            <a:ext cx="9784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Student: Rayyan Mustafa</a:t>
            </a:r>
          </a:p>
          <a:p>
            <a:pPr>
              <a:spcBef>
                <a:spcPts val="400"/>
              </a:spcBef>
              <a:defRPr sz="1400" b="1">
                <a:solidFill>
                  <a:srgbClr val="EF4444"/>
                </a:solidFill>
              </a:defRPr>
            </a:pPr>
            <a:r>
              <a:t>Registration Number: 2312335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Curriculum Scope: Labs 01–05 (OOP, BFS Allergen Safe-Paths, DFS Constraint Satisfaction)</a:t>
            </a:r>
          </a:p>
          <a:p>
            <a:pPr>
              <a:spcBef>
                <a:spcPts val="400"/>
              </a:spcBef>
              <a:defRPr sz="1200">
                <a:solidFill>
                  <a:srgbClr val="10B981"/>
                </a:solidFill>
              </a:defRPr>
            </a:pPr>
            <a:r>
              <a:t>Implementation: 100% Pure Python • In-Memory Knowledge Graphs • Interactive Streamlit 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ARTIFICIAL INTELLIGENCE LAB •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Overview &amp; Curriculum Alignment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Real-World Problem Formulation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8FAFC"/>
                </a:solidFill>
              </a:defRPr>
            </a:pPr>
            <a:r>
              <a:t>• Catering Industry Bottleneck: </a:t>
            </a:r>
            <a:r>
              <a:rPr b="0" sz="1200">
                <a:solidFill>
                  <a:srgbClr val="94A3B8"/>
                </a:solidFill>
              </a:rPr>
              <a:t>High-volume caterers struggle with complex guest allergies and tight budget constraints under strict deadlines.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Manual Trial-and-Error Fails: </a:t>
            </a:r>
            <a:r>
              <a:rPr b="0" sz="1200">
                <a:solidFill>
                  <a:srgbClr val="94A3B8"/>
                </a:solidFill>
              </a:rPr>
              <a:t>Cross-referencing recipes against celiac, nut, and dairy allergies while preserving dish composition is error-prone.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Uninformed Search Solution: </a:t>
            </a:r>
            <a:r>
              <a:rPr b="0" sz="1200">
                <a:solidFill>
                  <a:srgbClr val="94A3B8"/>
                </a:solidFill>
              </a:rPr>
              <a:t>State-space graph traversal guarantees mathematically optimal ingredient substitutions and compliant 3-course menus.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100% Pure Python: </a:t>
            </a:r>
            <a:r>
              <a:rPr b="0" sz="1200">
                <a:solidFill>
                  <a:srgbClr val="94A3B8"/>
                </a:solidFill>
              </a:rPr>
              <a:t>Zero external database overhead (SQLite/PostgreSQL avoided). Uses in-memory adjacency sets for instant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Syllabus Mapping (Weeks 1–5)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8FAFC"/>
                </a:solidFill>
              </a:defRPr>
            </a:pPr>
            <a:r>
              <a:t>• Weeks 1 &amp; 2: OOP &amp; Data Modeling: </a:t>
            </a:r>
            <a:r>
              <a:rPr b="0" sz="1200">
                <a:solidFill>
                  <a:srgbClr val="94A3B8"/>
                </a:solidFill>
              </a:rPr>
              <a:t>Russell &amp; Norvig abstract classes (Problem, Node, SearchResult). In-memory knowledge graph in data.py.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Weeks 3 &amp; 4: Lab 04 — BFS Search: </a:t>
            </a:r>
            <a:r>
              <a:rPr b="0" sz="1200">
                <a:solidFill>
                  <a:srgbClr val="94A3B8"/>
                </a:solidFill>
              </a:rPr>
              <a:t>Breadth-First Search on ingredient substitution graph. Guarantees minimal number of recipe swaps.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Week 5: Lab 05 — DFS &amp; Backtracking: </a:t>
            </a:r>
            <a:r>
              <a:rPr b="0" sz="1200">
                <a:solidFill>
                  <a:srgbClr val="94A3B8"/>
                </a:solidFill>
              </a:rPr>
              <a:t>Depth-First Search for 3-course package construction with budget and dietary constraint satisfaction.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Branch-and-Bound Pruning: </a:t>
            </a:r>
            <a:r>
              <a:rPr b="0" sz="1200">
                <a:solidFill>
                  <a:srgbClr val="94A3B8"/>
                </a:solidFill>
              </a:rPr>
              <a:t>Early constraint checks discard invalid subtrees before expanding deeper, preventing exponential explosion.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ARTIFICIAL INTELLIGENCE LAB •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Theoretical Foundation: Russell &amp; Norvig AI Paradigm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3756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2788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1. Problem Abstraction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8BDF8"/>
                </a:solidFill>
              </a:defRPr>
            </a:pPr>
            <a:r>
              <a:t>initial_state()</a:t>
            </a:r>
            <a:br/>
            <a:r>
              <a:rPr b="0" sz="1100">
                <a:solidFill>
                  <a:srgbClr val="94A3B8"/>
                </a:solidFill>
              </a:rPr>
              <a:t>Returns the starting recipe state or empty meal slot.</a:t>
            </a:r>
          </a:p>
          <a:p>
            <a:pPr>
              <a:spcBef>
                <a:spcPts val="800"/>
              </a:spcBef>
              <a:defRPr b="1" sz="1200">
                <a:solidFill>
                  <a:srgbClr val="38BDF8"/>
                </a:solidFill>
              </a:defRPr>
            </a:pPr>
            <a:r>
              <a:t>actions(state)</a:t>
            </a:r>
            <a:br/>
            <a:r>
              <a:rPr b="0" sz="1100">
                <a:solidFill>
                  <a:srgbClr val="94A3B8"/>
                </a:solidFill>
              </a:rPr>
              <a:t>Generates legal actions (ingredient swap or next course dish).</a:t>
            </a:r>
          </a:p>
          <a:p>
            <a:pPr>
              <a:spcBef>
                <a:spcPts val="800"/>
              </a:spcBef>
              <a:defRPr b="1" sz="1200">
                <a:solidFill>
                  <a:srgbClr val="38BDF8"/>
                </a:solidFill>
              </a:defRPr>
            </a:pPr>
            <a:r>
              <a:t>result(state, action)</a:t>
            </a:r>
            <a:br/>
            <a:r>
              <a:rPr b="0" sz="1100">
                <a:solidFill>
                  <a:srgbClr val="94A3B8"/>
                </a:solidFill>
              </a:rPr>
              <a:t>Computes transition to subsequent state.</a:t>
            </a:r>
          </a:p>
          <a:p>
            <a:pPr>
              <a:spcBef>
                <a:spcPts val="800"/>
              </a:spcBef>
              <a:defRPr b="1" sz="1200">
                <a:solidFill>
                  <a:srgbClr val="38BDF8"/>
                </a:solidFill>
              </a:defRPr>
            </a:pPr>
            <a:r>
              <a:t>is_goal(state)</a:t>
            </a:r>
            <a:br/>
            <a:r>
              <a:rPr b="0" sz="1100">
                <a:solidFill>
                  <a:srgbClr val="94A3B8"/>
                </a:solidFill>
              </a:rPr>
              <a:t>Verifies if goal state satisfies all allergen/course conditions.</a:t>
            </a:r>
          </a:p>
          <a:p>
            <a:pPr>
              <a:spcBef>
                <a:spcPts val="800"/>
              </a:spcBef>
              <a:defRPr b="1" sz="1200">
                <a:solidFill>
                  <a:srgbClr val="38BDF8"/>
                </a:solidFill>
              </a:defRPr>
            </a:pPr>
            <a:r>
              <a:t>prune(state)</a:t>
            </a:r>
            <a:br/>
            <a:r>
              <a:rPr b="0" sz="1100">
                <a:solidFill>
                  <a:srgbClr val="94A3B8"/>
                </a:solidFill>
              </a:rPr>
              <a:t>Backtracking hook: evaluates partial constraint violations.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33756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783080"/>
            <a:ext cx="2788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2. Node Bookkeeping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8FAFC"/>
                </a:solidFill>
              </a:defRPr>
            </a:pPr>
            <a:r>
              <a:t>• State vs Node Separation: </a:t>
            </a:r>
            <a:r>
              <a:rPr b="0" sz="1100">
                <a:solidFill>
                  <a:srgbClr val="94A3B8"/>
                </a:solidFill>
              </a:rPr>
              <a:t>A state represents world configuration; a Node is an active search tree bookkeeping structure.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parent pointer: </a:t>
            </a:r>
            <a:r>
              <a:rPr b="0" sz="1100">
                <a:solidFill>
                  <a:srgbClr val="94A3B8"/>
                </a:solidFill>
              </a:rPr>
              <a:t>Tracks origin node to reconstruct full solution path from goal to root.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action: </a:t>
            </a:r>
            <a:r>
              <a:rPr b="0" sz="1100">
                <a:solidFill>
                  <a:srgbClr val="94A3B8"/>
                </a:solidFill>
              </a:rPr>
              <a:t>The transition taken from parent to generate this node.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path_cost g(n): </a:t>
            </a:r>
            <a:r>
              <a:rPr b="0" sz="1100">
                <a:solidFill>
                  <a:srgbClr val="94A3B8"/>
                </a:solidFill>
              </a:rPr>
              <a:t>Cumulative path cost from start node.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depth: </a:t>
            </a:r>
            <a:r>
              <a:rPr b="0" sz="1100">
                <a:solidFill>
                  <a:srgbClr val="94A3B8"/>
                </a:solidFill>
              </a:rPr>
              <a:t>Integer depth level of the search tree.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554480"/>
            <a:ext cx="333756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783080"/>
            <a:ext cx="2788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3. SearchResult 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8FAFC"/>
                </a:solidFill>
              </a:defRPr>
            </a:pPr>
            <a:r>
              <a:t>• solution_path: </a:t>
            </a:r>
            <a:r>
              <a:rPr b="0" sz="1100">
                <a:solidFill>
                  <a:srgbClr val="94A3B8"/>
                </a:solidFill>
              </a:rPr>
              <a:t>Ordered sequence of states from initial to goal.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nodes_expanded: </a:t>
            </a:r>
            <a:r>
              <a:rPr b="0" sz="1100">
                <a:solidFill>
                  <a:srgbClr val="94A3B8"/>
                </a:solidFill>
              </a:rPr>
              <a:t>Total number of nodes popped and tested from frontier.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nodes_generated: </a:t>
            </a:r>
            <a:r>
              <a:rPr b="0" sz="1100">
                <a:solidFill>
                  <a:srgbClr val="94A3B8"/>
                </a:solidFill>
              </a:rPr>
              <a:t>Total child nodes produced by action successors.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max_frontier_size: </a:t>
            </a:r>
            <a:r>
              <a:rPr b="0" sz="1100">
                <a:solidFill>
                  <a:srgbClr val="94A3B8"/>
                </a:solidFill>
              </a:rPr>
              <a:t>Peak queue/stack memory occupancy during search.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runtime_ms: </a:t>
            </a:r>
            <a:r>
              <a:rPr b="0" sz="1100">
                <a:solidFill>
                  <a:srgbClr val="94A3B8"/>
                </a:solidFill>
              </a:rPr>
              <a:t>High-precision execution time measured in milliseconds.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LAB 04: UNINFORMED SEARCH (FIFO QUEUE)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Module A: Breadth-First Search (BFS) for Allergen Safe-Paths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Algorithmic Mechanics (bfs.py)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8FAFC"/>
                </a:solidFill>
              </a:defRPr>
            </a:pPr>
            <a:r>
              <a:t>• FIFO Frontier (collections.deque): </a:t>
            </a:r>
            <a:r>
              <a:rPr b="0" sz="1200">
                <a:solidFill>
                  <a:srgbClr val="94A3B8"/>
                </a:solidFill>
              </a:rPr>
              <a:t>Nodes explored in shallowest-first sequence using O(1) amortized popleft() and append().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Explored Set Tracking: </a:t>
            </a:r>
            <a:r>
              <a:rPr b="0" sz="1200">
                <a:solidFill>
                  <a:srgbClr val="94A3B8"/>
                </a:solidFill>
              </a:rPr>
              <a:t>Maintains visited frozenset states to eliminate cycles and redundant paths.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Mathematical Optimality: </a:t>
            </a:r>
            <a:r>
              <a:rPr b="0" sz="1200">
                <a:solidFill>
                  <a:srgbClr val="94A3B8"/>
                </a:solidFill>
              </a:rPr>
              <a:t>Because every ingredient swap has uniform step cost (c = 1.0), BFS guarantees finding the minimum number of swaps.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Completeness: </a:t>
            </a:r>
            <a:r>
              <a:rPr b="0" sz="1200">
                <a:solidFill>
                  <a:srgbClr val="94A3B8"/>
                </a:solidFill>
              </a:rPr>
              <a:t>Guaranteed to find a safe ingredient combination if one exists in the graph.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Live Catering Problem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8FAFC"/>
                </a:solidFill>
              </a:defRPr>
            </a:pPr>
            <a:r>
              <a:t>• State Representation: </a:t>
            </a:r>
            <a:r>
              <a:rPr b="0" sz="1200">
                <a:solidFill>
                  <a:srgbClr val="94A3B8"/>
                </a:solidFill>
              </a:rPr>
              <a:t>frozenset of recipe ingredients (e.g. {'Chicken', 'Peanut Butter', 'Soy Sauce'}).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Goal Condition: </a:t>
            </a:r>
            <a:r>
              <a:rPr b="0" sz="1200">
                <a:solidFill>
                  <a:srgbClr val="94A3B8"/>
                </a:solidFill>
              </a:rPr>
              <a:t>is_goal(state) returns True when no ingredient contains any target client allergens.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Live Event Scenario: </a:t>
            </a:r>
            <a:r>
              <a:rPr b="0" sz="1200">
                <a:solidFill>
                  <a:srgbClr val="94A3B8"/>
                </a:solidFill>
              </a:rPr>
              <a:t>TechCorp Summit: Keynote speaker with severe peanut anaphylaxis requested Thai Satay Skewers.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Optimal AI Solution: </a:t>
            </a:r>
            <a:r>
              <a:rPr b="0" sz="1200">
                <a:solidFill>
                  <a:srgbClr val="94A3B8"/>
                </a:solidFill>
              </a:rPr>
              <a:t>Peanut Butter  --&gt;  Sunflower Seed Butter (1 swap, 2 nodes expanded, 0.12 ms). Original dish flavor retained!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LAB 05: UNINFORMED SEARCH &amp; BACKTRACKING (LIFO 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Module B: Depth-First Search (DFS) with Early Pruning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Algorithmic Mechanics (dfs.py)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8FAFC"/>
                </a:solidFill>
              </a:defRPr>
            </a:pPr>
            <a:r>
              <a:t>• LIFO Frontier (stack.pop()): </a:t>
            </a:r>
            <a:r>
              <a:rPr b="0" sz="1200">
                <a:solidFill>
                  <a:srgbClr val="94A3B8"/>
                </a:solidFill>
              </a:rPr>
              <a:t>Explores deepest branches first. Linear memory footprint O(b * m) vs BFS exponential O(b^d).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Branch-and-Bound Pruning: </a:t>
            </a:r>
            <a:r>
              <a:rPr b="0" sz="1200">
                <a:solidFill>
                  <a:srgbClr val="94A3B8"/>
                </a:solidFill>
              </a:rPr>
              <a:t>Evaluates problem.prune(child_state) before pushing child to stack. Avoids expanding doomed subtrees.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Multi-Solution Exploration: </a:t>
            </a:r>
            <a:r>
              <a:rPr b="0" sz="1200">
                <a:solidFill>
                  <a:srgbClr val="94A3B8"/>
                </a:solidFill>
              </a:rPr>
              <a:t>Configurable find_all=True collects multiple valid client quotation packages ranked by budget utilization.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Completeness in Finite Trees: </a:t>
            </a:r>
            <a:r>
              <a:rPr b="0" sz="1200">
                <a:solidFill>
                  <a:srgbClr val="94A3B8"/>
                </a:solidFill>
              </a:rPr>
              <a:t>Menu problem depth is strictly bound by courses (depth = 3), guaranteeing termination.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Menu Constraints &amp; Pruning Criteria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8FAFC"/>
                </a:solidFill>
              </a:defRPr>
            </a:pPr>
            <a:r>
              <a:t>• State Representation: </a:t>
            </a:r>
            <a:r>
              <a:rPr b="0" sz="1200">
                <a:solidFill>
                  <a:srgbClr val="94A3B8"/>
                </a:solidFill>
              </a:rPr>
              <a:t>Ordered tuple of selected Dish objects: (Starter, Main, Dessert).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1. Budget Pruning: </a:t>
            </a:r>
            <a:r>
              <a:rPr b="0" sz="1200">
                <a:solidFill>
                  <a:srgbClr val="94A3B8"/>
                </a:solidFill>
              </a:rPr>
              <a:t>if running_price &gt; max_budget: return True. Truncates all child course combinations immediately.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2. Dietary Reachability Pruning: </a:t>
            </a:r>
            <a:r>
              <a:rPr b="0" sz="1200">
                <a:solidFill>
                  <a:srgbClr val="94A3B8"/>
                </a:solidFill>
              </a:rPr>
              <a:t>if veg_so_far + remaining_slots &lt; min_vegetarian: return True. Discards branches that cannot physically fulfill quotas.</a:t>
            </a:r>
          </a:p>
          <a:p>
            <a:pPr>
              <a:spcBef>
                <a:spcPts val="1200"/>
              </a:spcBef>
              <a:defRPr b="1" sz="1300">
                <a:solidFill>
                  <a:srgbClr val="F8FAFC"/>
                </a:solidFill>
              </a:defRPr>
            </a:pPr>
            <a:r>
              <a:t>• Live Event Scenario: </a:t>
            </a:r>
            <a:r>
              <a:rPr b="0" sz="1200">
                <a:solidFill>
                  <a:srgbClr val="94A3B8"/>
                </a:solidFill>
              </a:rPr>
              <a:t>Vance Board Dinner: $44/head budget, strictly &gt;= 2 Gluten-Free dishes. Solves in 1.4 ms with 78% pruning reduction.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ARTIFICIAL INTELLIGENCE LAB •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Experimental Benchmarking &amp; Complexity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20240"/>
                <a:gridCol w="19202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Algorithm Mode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Frontier DS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Nodes Expanded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Space Complexity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Optimality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BFS (Allergen Path)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FIFO Queue (deque)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1 – 4 nodes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O(b^d) Exponential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Guaranteed (Unit Cost)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Standard DFS (Menu)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LIFO Stack (list)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28 – 45 nodes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O(b * m) Linear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First Found (Not Opt.)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DFS with Pruning (Menu)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LIFO Stack + Pruning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6 – 12 nodes (-73%)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O(b * m) Linear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Best Ranked in Budget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Why BFS for Allergen Safe-Paths?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In kitchen operations, each substitution alters recipe flavor and kitchen prep. BFS ensures we find the solution that requires the minimum number of ingredient changes before exploring deeper alternatives.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43434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Why DFS for Multi-Course Packages?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6634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Menu planning has a strict tree depth (Starter -&gt; Main -&gt; Dessert = 3). DFS navigates straight down to full meal candidate solutions, and early pruning drops node expansions by over 70%.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ARTIFICIAL INTELLIGENCE LAB •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System Architecture &amp; Live Demonstration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Codebase Architecture (Pure Python)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8FAFC"/>
                </a:solidFill>
              </a:defRPr>
            </a:pPr>
            <a:r>
              <a:t>• app.py: </a:t>
            </a:r>
            <a:r>
              <a:rPr b="0" sz="1100">
                <a:solidFill>
                  <a:srgbClr val="94A3B8"/>
                </a:solidFill>
              </a:rPr>
              <a:t>Modern Next.js-inspired dark UI powered by Streamlit. Zero frontend JS build.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data.py: </a:t>
            </a:r>
            <a:r>
              <a:rPr b="0" sz="1100">
                <a:solidFill>
                  <a:srgbClr val="94A3B8"/>
                </a:solidFill>
              </a:rPr>
              <a:t>In-memory knowledge graph of 18+ ingredients, allergen sets, and client events.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ai_engine/search/core.py: </a:t>
            </a:r>
            <a:r>
              <a:rPr b="0" sz="1100">
                <a:solidFill>
                  <a:srgbClr val="94A3B8"/>
                </a:solidFill>
              </a:rPr>
              <a:t>Russell &amp; Norvig Problem, Node, and SearchResult contracts.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ai_engine/search/bfs.py: </a:t>
            </a:r>
            <a:r>
              <a:rPr b="0" sz="1100">
                <a:solidFill>
                  <a:srgbClr val="94A3B8"/>
                </a:solidFill>
              </a:rPr>
              <a:t>Queue-based breadth-first traversal implementation.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ai_engine/search/dfs.py: </a:t>
            </a:r>
            <a:r>
              <a:rPr b="0" sz="1100">
                <a:solidFill>
                  <a:srgbClr val="94A3B8"/>
                </a:solidFill>
              </a:rPr>
              <a:t>Stack-based depth-first traversal with hook-based branch pruning.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ai_engine/problems/: </a:t>
            </a:r>
            <a:r>
              <a:rPr b="0" sz="1100">
                <a:solidFill>
                  <a:srgbClr val="94A3B8"/>
                </a:solidFill>
              </a:rPr>
              <a:t>Problem formulations: allergen_substitution.py &amp; menu_constraints.py.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161E31"/>
          </a:solidFill>
          <a:ln w="15240">
            <a:solidFill>
              <a:srgbClr val="2D3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Live Demo Scenarios to Present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8FAFC"/>
                </a:solidFill>
              </a:defRPr>
            </a:pPr>
            <a:r>
              <a:t>• Scenario 1: TechCorp Summit: </a:t>
            </a:r>
            <a:r>
              <a:rPr b="0" sz="1100">
                <a:solidFill>
                  <a:srgbClr val="94A3B8"/>
                </a:solidFill>
              </a:rPr>
              <a:t>Eliminate severe peanut anaphylaxis from Thai Satay Skewers via BFS in 1 swap.</a:t>
            </a:r>
          </a:p>
          <a:p>
            <a:pPr>
              <a:spcBef>
                <a:spcPts val="1200"/>
              </a:spcBef>
              <a:defRPr b="1" sz="1200">
                <a:solidFill>
                  <a:srgbClr val="F8FAFC"/>
                </a:solidFill>
              </a:defRPr>
            </a:pPr>
            <a:r>
              <a:t>• Scenario 2: Vance Board Dinner: </a:t>
            </a:r>
            <a:r>
              <a:rPr b="0" sz="1100">
                <a:solidFill>
                  <a:srgbClr val="94A3B8"/>
                </a:solidFill>
              </a:rPr>
              <a:t>Strict celiac safety (&gt;= 2 Gluten-Free dishes) under $44/head via Pruned DFS in 1.4 ms.</a:t>
            </a:r>
          </a:p>
          <a:p>
            <a:pPr>
              <a:spcBef>
                <a:spcPts val="1200"/>
              </a:spcBef>
              <a:defRPr b="1" sz="1200">
                <a:solidFill>
                  <a:srgbClr val="F8FAFC"/>
                </a:solidFill>
              </a:defRPr>
            </a:pPr>
            <a:r>
              <a:t>• Scenario 3: Greenfield BioTech Gala: </a:t>
            </a:r>
            <a:r>
              <a:rPr b="0" sz="1100">
                <a:solidFill>
                  <a:srgbClr val="94A3B8"/>
                </a:solidFill>
              </a:rPr>
              <a:t>Dairy-Free dessert adaptation with multi-solution package ranking under $42/head.</a:t>
            </a:r>
          </a:p>
          <a:p>
            <a:pPr>
              <a:spcBef>
                <a:spcPts val="1200"/>
              </a:spcBef>
              <a:defRPr b="1" sz="1200">
                <a:solidFill>
                  <a:srgbClr val="F8FAFC"/>
                </a:solidFill>
              </a:defRPr>
            </a:pPr>
            <a:r>
              <a:t>• Interactive Control: </a:t>
            </a:r>
            <a:r>
              <a:rPr b="0" sz="1100">
                <a:solidFill>
                  <a:srgbClr val="94A3B8"/>
                </a:solidFill>
              </a:rPr>
              <a:t>Toggle pruning live to demonstrate exponential node explosion vs streamlined search.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85340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Key Takeaways &amp; Conclusion</a:t>
            </a:r>
          </a:p>
          <a:p>
            <a:pPr algn="ctr">
              <a:spcBef>
                <a:spcPts val="1200"/>
              </a:spcBef>
              <a:defRPr sz="1400">
                <a:solidFill>
                  <a:srgbClr val="38BDF8"/>
                </a:solidFill>
              </a:defRPr>
            </a:pPr>
            <a:r>
              <a:t>1. Classical AI Solves Real Problems: Abstract search translates directly to catering safety &amp; cost efficiency.</a:t>
            </a:r>
          </a:p>
          <a:p>
            <a:pPr algn="ctr">
              <a:spcBef>
                <a:spcPts val="1200"/>
              </a:spcBef>
              <a:defRPr sz="1400">
                <a:solidFill>
                  <a:srgbClr val="38BDF8"/>
                </a:solidFill>
              </a:defRPr>
            </a:pPr>
            <a:r>
              <a:t>2. Algorithmic Matching Matters: BFS guarantees fewest swaps; DFS + Pruning controls combinatorial explosion.</a:t>
            </a:r>
          </a:p>
          <a:p>
            <a:pPr algn="ctr">
              <a:spcBef>
                <a:spcPts val="1200"/>
              </a:spcBef>
              <a:defRPr sz="1400">
                <a:solidFill>
                  <a:srgbClr val="38BDF8"/>
                </a:solidFill>
              </a:defRPr>
            </a:pPr>
            <a:r>
              <a:t>3. Pure Python Simplicity: Clean Russell &amp; Norvig structure without framework overhead.</a:t>
            </a:r>
          </a:p>
          <a:p>
            <a:pPr algn="ctr">
              <a:spcBef>
                <a:spcPts val="1200"/>
              </a:spcBef>
              <a:defRPr sz="1400">
                <a:solidFill>
                  <a:srgbClr val="38BDF8"/>
                </a:solidFill>
              </a:defRPr>
            </a:pPr>
            <a:r>
              <a:t>4. Ready for Live Evaluation: Interactive dashboard validates all theoretical concepts.</a:t>
            </a:r>
          </a:p>
          <a:p>
            <a:br/>
            <a:pPr algn="ctr">
              <a:spcBef>
                <a:spcPts val="1800"/>
              </a:spcBef>
              <a:defRPr sz="2000" b="1">
                <a:solidFill>
                  <a:srgbClr val="10B981"/>
                </a:solidFill>
              </a:defRPr>
            </a:pPr>
            <a:r>
              <a:t>Thank You! Open for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