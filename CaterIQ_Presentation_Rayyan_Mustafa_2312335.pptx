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822960"/>
            <a:ext cx="10728655" cy="52120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188720"/>
            <a:ext cx="4206240" cy="365760"/>
          </a:xfrm>
          <a:prstGeom prst="roundRect">
            <a:avLst/>
          </a:prstGeom>
          <a:solidFill>
            <a:srgbClr val="1E1B4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 ARTIFICIAL INTELLIGENCE LAB (SEMESTER PROJECT)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737360"/>
            <a:ext cx="9784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CaterIQ: AI Catering Intelligence Studio</a:t>
            </a:r>
          </a:p>
          <a:p>
            <a:pPr>
              <a:spcBef>
                <a:spcPts val="800"/>
              </a:spcBef>
              <a:defRPr sz="1700">
                <a:solidFill>
                  <a:srgbClr val="38BDF8"/>
                </a:solidFill>
              </a:defRPr>
            </a:pPr>
            <a:r>
              <a:t>Uninformed State-Space Search (BFS &amp; DFS) for Automated Catering Optimization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3383280"/>
            <a:ext cx="9784080" cy="2194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D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3566160"/>
            <a:ext cx="9235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366F1"/>
                </a:solidFill>
              </a:defRPr>
            </a:pPr>
            <a:r>
              <a:t>PROJECT AUTHORS / GROUP MEMBERS:</a:t>
            </a:r>
          </a:p>
          <a:p>
            <a:pPr>
              <a:spcBef>
                <a:spcPts val="800"/>
              </a:spcBef>
              <a:defRPr sz="1600" b="1">
                <a:solidFill>
                  <a:srgbClr val="EF4444"/>
                </a:solidFill>
              </a:defRPr>
            </a:pPr>
            <a:r>
              <a:t>• Rayyan Mustafa  —  Roll / Reg No: 2312335 (Team Lead / Presenter)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Course: Artificial Intelligence Lab (6th Semester)   |   Focus: Labs 01–05 Curriculum</a:t>
            </a:r>
          </a:p>
          <a:p>
            <a:pPr>
              <a:spcBef>
                <a:spcPts val="400"/>
              </a:spcBef>
              <a:defRPr sz="1200">
                <a:solidFill>
                  <a:srgbClr val="10B981"/>
                </a:solidFill>
              </a:defRPr>
            </a:pPr>
            <a:r>
              <a:t>Technology Stack: 100% Pure Python  •  Russell &amp; Norvig Paradigm  •  Interactive Streamlit 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SECTION 1: PROJECT IDEA &amp; BRIEF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1. Project Title &amp; Introduction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D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55648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Project Idea &amp;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8FAFC"/>
                </a:solidFill>
              </a:defRPr>
            </a:pPr>
            <a:r>
              <a:t>• What is CaterIQ?: </a:t>
            </a:r>
            <a:r>
              <a:rPr b="0" sz="1200">
                <a:solidFill>
                  <a:srgbClr val="94A3B8"/>
                </a:solidFill>
              </a:rPr>
              <a:t>An intelligent catering decision-support studio that automates recipe allergen adaptation and multi-course menu quotation packaging.</a:t>
            </a:r>
          </a:p>
          <a:p>
            <a:pPr>
              <a:spcBef>
                <a:spcPts val="1200"/>
              </a:spcBef>
              <a:defRPr b="1" sz="1300">
                <a:solidFill>
                  <a:srgbClr val="F8FAFC"/>
                </a:solidFill>
              </a:defRPr>
            </a:pPr>
            <a:r>
              <a:t>• Core AI Methodology: </a:t>
            </a:r>
            <a:r>
              <a:rPr b="0" sz="1200">
                <a:solidFill>
                  <a:srgbClr val="94A3B8"/>
                </a:solidFill>
              </a:rPr>
              <a:t>Replaces manual guessing with classical Uninformed State-Space Search (BFS &amp; DFS) to guarantee optimal solutions.</a:t>
            </a:r>
          </a:p>
          <a:p>
            <a:pPr>
              <a:spcBef>
                <a:spcPts val="1200"/>
              </a:spcBef>
              <a:defRPr b="1" sz="1300">
                <a:solidFill>
                  <a:srgbClr val="F8FAFC"/>
                </a:solidFill>
              </a:defRPr>
            </a:pPr>
            <a:r>
              <a:t>• 100% Pure Python Foundation: </a:t>
            </a:r>
            <a:r>
              <a:rPr b="0" sz="1200">
                <a:solidFill>
                  <a:srgbClr val="94A3B8"/>
                </a:solidFill>
              </a:rPr>
              <a:t>Engineered completely in pure Python without bloated SQL databases or heavy web stacks. All state graphs reside in memory.</a:t>
            </a:r>
          </a:p>
          <a:p>
            <a:pPr>
              <a:spcBef>
                <a:spcPts val="1200"/>
              </a:spcBef>
              <a:defRPr b="1" sz="1300">
                <a:solidFill>
                  <a:srgbClr val="F8FAFC"/>
                </a:solidFill>
              </a:defRPr>
            </a:pPr>
            <a:r>
              <a:t>• Modern Interactive Interface: </a:t>
            </a:r>
            <a:r>
              <a:rPr b="0" sz="1200">
                <a:solidFill>
                  <a:srgbClr val="94A3B8"/>
                </a:solidFill>
              </a:rPr>
              <a:t>Coupled with a Next.js-inspired high-contrast Streamlit dashboard for real-time demonstration and metric tracking.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120640" cy="47548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D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755648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Industry Background &amp; Motivation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8FAFC"/>
                </a:solidFill>
              </a:defRPr>
            </a:pPr>
            <a:r>
              <a:t>• High-Stakes Catering Environment: </a:t>
            </a:r>
            <a:r>
              <a:rPr b="0" sz="1200">
                <a:solidFill>
                  <a:srgbClr val="94A3B8"/>
                </a:solidFill>
              </a:rPr>
              <a:t>Large events (weddings, corporate summits) must accommodate severe guest dietary restrictions (peanut anaphylaxis, celiac disease).</a:t>
            </a:r>
          </a:p>
          <a:p>
            <a:pPr>
              <a:spcBef>
                <a:spcPts val="1200"/>
              </a:spcBef>
              <a:defRPr b="1" sz="1300">
                <a:solidFill>
                  <a:srgbClr val="F8FAFC"/>
                </a:solidFill>
              </a:defRPr>
            </a:pPr>
            <a:r>
              <a:t>• The 'Recipe Preservation' Dilemma: </a:t>
            </a:r>
            <a:r>
              <a:rPr b="0" sz="1200">
                <a:solidFill>
                  <a:srgbClr val="94A3B8"/>
                </a:solidFill>
              </a:rPr>
              <a:t>Swapping ingredients carelessly ruins taste profiles or triggers secondary allergens. Chefs need the absolute minimum number of swaps.</a:t>
            </a:r>
          </a:p>
          <a:p>
            <a:pPr>
              <a:spcBef>
                <a:spcPts val="1200"/>
              </a:spcBef>
              <a:defRPr b="1" sz="1300">
                <a:solidFill>
                  <a:srgbClr val="F8FAFC"/>
                </a:solidFill>
              </a:defRPr>
            </a:pPr>
            <a:r>
              <a:t>• Budget &amp; Course Balancing: </a:t>
            </a:r>
            <a:r>
              <a:rPr b="0" sz="1200">
                <a:solidFill>
                  <a:srgbClr val="94A3B8"/>
                </a:solidFill>
              </a:rPr>
              <a:t>Clients impose strict per-head budgets while demanding balanced dietary quotas (e.g. at least 2 gluten-free, 1 vegetarian course).</a:t>
            </a:r>
          </a:p>
          <a:p>
            <a:pPr>
              <a:spcBef>
                <a:spcPts val="1200"/>
              </a:spcBef>
              <a:defRPr b="1" sz="1300">
                <a:solidFill>
                  <a:srgbClr val="F8FAFC"/>
                </a:solidFill>
              </a:defRPr>
            </a:pPr>
            <a:r>
              <a:t>• Why Classical AI?: </a:t>
            </a:r>
            <a:r>
              <a:rPr b="0" sz="1200">
                <a:solidFill>
                  <a:srgbClr val="94A3B8"/>
                </a:solidFill>
              </a:rPr>
              <a:t>Exact search algorithms ensure 100% mathematical guarantees for safety and budget adherence without hallucination risks.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SECTION 2: WHAT THE APPLICATION AIMS TO ACHIEVE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2. Problem Statement &amp;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D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55648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8FAFC"/>
                </a:solidFill>
              </a:defRPr>
            </a:pPr>
            <a:r>
              <a:t>• Manual Recipe Guesswork: </a:t>
            </a:r>
            <a:r>
              <a:rPr b="0" sz="1200">
                <a:solidFill>
                  <a:srgbClr val="94A3B8"/>
                </a:solidFill>
              </a:rPr>
              <a:t>Human caterers cross-referencing allergen charts manually frequently cause deadly cross-contamination risks or compromise dish integrity.</a:t>
            </a:r>
          </a:p>
          <a:p>
            <a:pPr>
              <a:spcBef>
                <a:spcPts val="1200"/>
              </a:spcBef>
              <a:defRPr b="1" sz="1300">
                <a:solidFill>
                  <a:srgbClr val="F8FAFC"/>
                </a:solidFill>
              </a:defRPr>
            </a:pPr>
            <a:r>
              <a:t>• Combinatorial Package Explosion: </a:t>
            </a:r>
            <a:r>
              <a:rPr b="0" sz="1200">
                <a:solidFill>
                  <a:srgbClr val="94A3B8"/>
                </a:solidFill>
              </a:rPr>
              <a:t>Selecting a 3-course package (Starter, Main, Dessert) from dozens of options creates hundreds of combinations, overwhelming manual event planners.</a:t>
            </a:r>
          </a:p>
          <a:p>
            <a:pPr>
              <a:spcBef>
                <a:spcPts val="1200"/>
              </a:spcBef>
              <a:defRPr b="1" sz="1300">
                <a:solidFill>
                  <a:srgbClr val="F8FAFC"/>
                </a:solidFill>
              </a:defRPr>
            </a:pPr>
            <a:r>
              <a:t>• Constraint Conflicts: </a:t>
            </a:r>
            <a:r>
              <a:rPr b="0" sz="1200">
                <a:solidFill>
                  <a:srgbClr val="94A3B8"/>
                </a:solidFill>
              </a:rPr>
              <a:t>Simultaneously balancing maximum per-head budget with minimum vegetarian and gluten-free quotas leads to trial-and-error delays.</a:t>
            </a:r>
          </a:p>
          <a:p>
            <a:pPr>
              <a:spcBef>
                <a:spcPts val="1200"/>
              </a:spcBef>
              <a:defRPr b="1" sz="1300">
                <a:solidFill>
                  <a:srgbClr val="F8FAFC"/>
                </a:solidFill>
              </a:defRPr>
            </a:pPr>
            <a:r>
              <a:t>• Lack of Performance Metrics: </a:t>
            </a:r>
            <a:r>
              <a:rPr b="0" sz="1200">
                <a:solidFill>
                  <a:srgbClr val="94A3B8"/>
                </a:solidFill>
              </a:rPr>
              <a:t>Kitchens lack objective metrics to verify whether a proposed menu package represents the optimal allocation of ingredients.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120640" cy="47548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D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755648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Key Application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8FAFC"/>
                </a:solidFill>
              </a:defRPr>
            </a:pPr>
            <a:r>
              <a:t>• Objective 1: Allergen Safe-Path Search: </a:t>
            </a:r>
            <a:r>
              <a:rPr b="0" sz="1200">
                <a:solidFill>
                  <a:srgbClr val="94A3B8"/>
                </a:solidFill>
              </a:rPr>
              <a:t>Implement Breadth-First Search (BFS) on an ingredient graph to guarantee the minimal number of ingredient substitutions to eliminate allergens.</a:t>
            </a:r>
          </a:p>
          <a:p>
            <a:pPr>
              <a:spcBef>
                <a:spcPts val="1200"/>
              </a:spcBef>
              <a:defRPr b="1" sz="1300">
                <a:solidFill>
                  <a:srgbClr val="F8FAFC"/>
                </a:solidFill>
              </a:defRPr>
            </a:pPr>
            <a:r>
              <a:t>• Objective 2: Constraint-Driven Menu Assembly: </a:t>
            </a:r>
            <a:r>
              <a:rPr b="0" sz="1200">
                <a:solidFill>
                  <a:srgbClr val="94A3B8"/>
                </a:solidFill>
              </a:rPr>
              <a:t>Implement Depth-First Search (DFS) with early branch pruning to assemble 3-course catering packages satisfying budget &amp; dietary limits.</a:t>
            </a:r>
          </a:p>
          <a:p>
            <a:pPr>
              <a:spcBef>
                <a:spcPts val="1200"/>
              </a:spcBef>
              <a:defRPr b="1" sz="1300">
                <a:solidFill>
                  <a:srgbClr val="F8FAFC"/>
                </a:solidFill>
              </a:defRPr>
            </a:pPr>
            <a:r>
              <a:t>• Objective 3: Branch-and-Bound Efficiency: </a:t>
            </a:r>
            <a:r>
              <a:rPr b="0" sz="1200">
                <a:solidFill>
                  <a:srgbClr val="94A3B8"/>
                </a:solidFill>
              </a:rPr>
              <a:t>Prune invalid partial menus early to reduce search tree node expansions by over 70% compared to brute-force evaluation.</a:t>
            </a:r>
          </a:p>
          <a:p>
            <a:pPr>
              <a:spcBef>
                <a:spcPts val="1200"/>
              </a:spcBef>
              <a:defRPr b="1" sz="1300">
                <a:solidFill>
                  <a:srgbClr val="F8FAFC"/>
                </a:solidFill>
              </a:defRPr>
            </a:pPr>
            <a:r>
              <a:t>• Objective 4: Interactive Decision Studio: </a:t>
            </a:r>
            <a:r>
              <a:rPr b="0" sz="1200">
                <a:solidFill>
                  <a:srgbClr val="94A3B8"/>
                </a:solidFill>
              </a:rPr>
              <a:t>Provide interactive Streamlit dashboards with live metric inspection (nodes expanded, execution time in ms, search depth).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SECTION 3: SYLLABUS CONCEPTS &amp; THEIR DIRECT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3. Concepts Used (Labs 01–05)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37560" cy="47548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D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55648"/>
            <a:ext cx="27889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Labs 01 &amp; 02: OOP &amp; Search Abstraction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2880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F8FAFC"/>
                </a:solidFill>
              </a:defRPr>
            </a:pPr>
            <a:r>
              <a:t>• Russell &amp; Norvig Problem Base Class:</a:t>
            </a:r>
            <a:br/>
            <a:r>
              <a:rPr b="0" sz="1050">
                <a:solidFill>
                  <a:srgbClr val="94A3B8"/>
                </a:solidFill>
              </a:rPr>
              <a:t>Abstract methods: initial_state(), actions(), result(), is_goal(), and prune().</a:t>
            </a:r>
          </a:p>
          <a:p>
            <a:pPr>
              <a:spcBef>
                <a:spcPts val="800"/>
              </a:spcBef>
              <a:defRPr b="1" sz="1150">
                <a:solidFill>
                  <a:srgbClr val="F8FAFC"/>
                </a:solidFill>
              </a:defRPr>
            </a:pPr>
            <a:r>
              <a:t>• Node Bookkeeping Class:</a:t>
            </a:r>
            <a:br/>
            <a:r>
              <a:rPr b="0" sz="1050">
                <a:solidFill>
                  <a:srgbClr val="94A3B8"/>
                </a:solidFill>
              </a:rPr>
              <a:t>Tracks parent pointers, actions taken, path_cost g(n), and depth level to reconstruct full solution paths.</a:t>
            </a:r>
          </a:p>
          <a:p>
            <a:pPr>
              <a:spcBef>
                <a:spcPts val="800"/>
              </a:spcBef>
              <a:defRPr b="1" sz="1150">
                <a:solidFill>
                  <a:srgbClr val="F8FAFC"/>
                </a:solidFill>
              </a:defRPr>
            </a:pPr>
            <a:r>
              <a:t>• SearchResult Container:</a:t>
            </a:r>
            <a:br/>
            <a:r>
              <a:rPr b="0" sz="1050">
                <a:solidFill>
                  <a:srgbClr val="94A3B8"/>
                </a:solidFill>
              </a:rPr>
              <a:t>Stores nodes expanded, nodes generated, max frontier size, and runtime in ms.</a:t>
            </a:r>
          </a:p>
          <a:p>
            <a:pPr>
              <a:spcBef>
                <a:spcPts val="800"/>
              </a:spcBef>
              <a:defRPr b="1" sz="1150">
                <a:solidFill>
                  <a:srgbClr val="F8FAFC"/>
                </a:solidFill>
              </a:defRPr>
            </a:pPr>
            <a:r>
              <a:t>• In-Memory Graphs (data.py):</a:t>
            </a:r>
            <a:br/>
            <a:r>
              <a:rPr b="0" sz="1050">
                <a:solidFill>
                  <a:srgbClr val="94A3B8"/>
                </a:solidFill>
              </a:rPr>
              <a:t>Pure Python dictionaries, sets, and lists modeling adjacency graphs without database overhead.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54480"/>
            <a:ext cx="3337560" cy="47548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D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59" y="1755648"/>
            <a:ext cx="27889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Labs 03 &amp; 04: Breadth-First Search (BFS)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194560"/>
            <a:ext cx="2880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F8FAFC"/>
                </a:solidFill>
              </a:defRPr>
            </a:pPr>
            <a:r>
              <a:t>• FIFO Queue Frontier:</a:t>
            </a:r>
            <a:br/>
            <a:r>
              <a:rPr b="0" sz="1050">
                <a:solidFill>
                  <a:srgbClr val="94A3B8"/>
                </a:solidFill>
              </a:rPr>
              <a:t>Implemented with collections.deque for O(1) amortized append() and popleft() operations.</a:t>
            </a:r>
          </a:p>
          <a:p>
            <a:pPr>
              <a:spcBef>
                <a:spcPts val="800"/>
              </a:spcBef>
              <a:defRPr b="1" sz="1150">
                <a:solidFill>
                  <a:srgbClr val="F8FAFC"/>
                </a:solidFill>
              </a:defRPr>
            </a:pPr>
            <a:r>
              <a:t>• Explored Set Cycle Detection:</a:t>
            </a:r>
            <a:br/>
            <a:r>
              <a:rPr b="0" sz="1050">
                <a:solidFill>
                  <a:srgbClr val="94A3B8"/>
                </a:solidFill>
              </a:rPr>
              <a:t>Maintains visited frozenset states to prevent infinite loops in cyclic substitution graphs.</a:t>
            </a:r>
          </a:p>
          <a:p>
            <a:pPr>
              <a:spcBef>
                <a:spcPts val="800"/>
              </a:spcBef>
              <a:defRPr b="1" sz="1150">
                <a:solidFill>
                  <a:srgbClr val="F8FAFC"/>
                </a:solidFill>
              </a:defRPr>
            </a:pPr>
            <a:r>
              <a:t>• Unit-Cost Optimality:</a:t>
            </a:r>
            <a:br/>
            <a:r>
              <a:rPr b="0" sz="1050">
                <a:solidFill>
                  <a:srgbClr val="94A3B8"/>
                </a:solidFill>
              </a:rPr>
              <a:t>Since every ingredient swap has uniform cost (c = 1.0), BFS mathematically guarantees the shortest swap chain.</a:t>
            </a:r>
          </a:p>
          <a:p>
            <a:pPr>
              <a:spcBef>
                <a:spcPts val="800"/>
              </a:spcBef>
              <a:defRPr b="1" sz="1150">
                <a:solidFill>
                  <a:srgbClr val="F8FAFC"/>
                </a:solidFill>
              </a:defRPr>
            </a:pPr>
            <a:r>
              <a:t>• Catering Application:</a:t>
            </a:r>
            <a:br/>
            <a:r>
              <a:rPr b="0" sz="1050">
                <a:solidFill>
                  <a:srgbClr val="94A3B8"/>
                </a:solidFill>
              </a:rPr>
              <a:t>Finds the exact minimum ingredient swaps required to make recipes 100% allergen safe.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554480"/>
            <a:ext cx="3337560" cy="47548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D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755648"/>
            <a:ext cx="27889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Lab 05: Depth-First Search &amp; Pruning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194560"/>
            <a:ext cx="2880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F8FAFC"/>
                </a:solidFill>
              </a:defRPr>
            </a:pPr>
            <a:r>
              <a:t>• LIFO Stack Frontier:</a:t>
            </a:r>
            <a:br/>
            <a:r>
              <a:rPr b="0" sz="1050">
                <a:solidFill>
                  <a:srgbClr val="94A3B8"/>
                </a:solidFill>
              </a:rPr>
              <a:t>Implemented via standard Python list (pop() and append()) exploring deep candidate paths first.</a:t>
            </a:r>
          </a:p>
          <a:p>
            <a:pPr>
              <a:spcBef>
                <a:spcPts val="800"/>
              </a:spcBef>
              <a:defRPr b="1" sz="1150">
                <a:solidFill>
                  <a:srgbClr val="F8FAFC"/>
                </a:solidFill>
              </a:defRPr>
            </a:pPr>
            <a:r>
              <a:t>• Linear Space Complexity:</a:t>
            </a:r>
            <a:br/>
            <a:r>
              <a:rPr b="0" sz="1050">
                <a:solidFill>
                  <a:srgbClr val="94A3B8"/>
                </a:solidFill>
              </a:rPr>
              <a:t>Consumes O(b * m) memory instead of exponential O(b^d), making it ideal for fixed course depths.</a:t>
            </a:r>
          </a:p>
          <a:p>
            <a:pPr>
              <a:spcBef>
                <a:spcPts val="800"/>
              </a:spcBef>
              <a:defRPr b="1" sz="1150">
                <a:solidFill>
                  <a:srgbClr val="F8FAFC"/>
                </a:solidFill>
              </a:defRPr>
            </a:pPr>
            <a:r>
              <a:t>• Branch-and-Bound Pruning:</a:t>
            </a:r>
            <a:br/>
            <a:r>
              <a:rPr b="0" sz="1050">
                <a:solidFill>
                  <a:srgbClr val="94A3B8"/>
                </a:solidFill>
              </a:rPr>
              <a:t>Early prune() check discards partial states exceeding budget or violating remaining course dietary limits.</a:t>
            </a:r>
          </a:p>
          <a:p>
            <a:pPr>
              <a:spcBef>
                <a:spcPts val="800"/>
              </a:spcBef>
              <a:defRPr b="1" sz="1150">
                <a:solidFill>
                  <a:srgbClr val="F8FAFC"/>
                </a:solidFill>
              </a:defRPr>
            </a:pPr>
            <a:r>
              <a:t>• Catering Application:</a:t>
            </a:r>
            <a:br/>
            <a:r>
              <a:rPr b="0" sz="1050">
                <a:solidFill>
                  <a:srgbClr val="94A3B8"/>
                </a:solidFill>
              </a:rPr>
              <a:t>Assembles 3-course menus (Starter, Main, Dessert) fulfilling budget and dietary quotas with zero wasted compute.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SECTION 4: SYSTEM ARCHITECTURE &amp; EXECUTION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4. Proposed Design &amp; Working: Program Flow &amp;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468880" cy="228600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D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55648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Step 1: Event 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103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Client submits guest count, target allergens, budget/head, and dietary quotas.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554480"/>
            <a:ext cx="2468880" cy="228600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D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1755648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Step 2: State Formulation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103120"/>
            <a:ext cx="2103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Problem defines initial_state, actions, transition result, and goal constraints.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554480"/>
            <a:ext cx="2468880" cy="228600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D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55648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Step 3: State-Space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103120"/>
            <a:ext cx="2103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BFS explores substitution graph (FIFO). DFS explores course tree with pruning (LIFO).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554480"/>
            <a:ext cx="2468880" cy="228600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D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755648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Step 4: Solution Delivery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103120"/>
            <a:ext cx="2103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Solution node backtracks parent pointers to output recipe swaps and menu packages.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14800"/>
            <a:ext cx="10728655" cy="219456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D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315968"/>
            <a:ext cx="1018001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Modular Python Architecture &amp; Component Separation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663440"/>
            <a:ext cx="10149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8FAFC"/>
                </a:solidFill>
              </a:defRPr>
            </a:pPr>
            <a:r>
              <a:t>• data.py (Domain Layer): </a:t>
            </a:r>
            <a:r>
              <a:rPr b="0" sz="1100">
                <a:solidFill>
                  <a:srgbClr val="94A3B8"/>
                </a:solidFill>
              </a:rPr>
              <a:t>In-memory database storing allergen dictionaries, substitution adjacency lists, dish catalog, and client events.</a:t>
            </a:r>
          </a:p>
          <a:p>
            <a:pPr>
              <a:spcBef>
                <a:spcPts val="400"/>
              </a:spcBef>
              <a:defRPr b="1" sz="1200">
                <a:solidFill>
                  <a:srgbClr val="F8FAFC"/>
                </a:solidFill>
              </a:defRPr>
            </a:pPr>
            <a:r>
              <a:t>• ai_engine/search/ (Algorithmic Core): </a:t>
            </a:r>
            <a:r>
              <a:rPr b="0" sz="1100">
                <a:solidFill>
                  <a:srgbClr val="94A3B8"/>
                </a:solidFill>
              </a:rPr>
              <a:t>core.py (Russell &amp; Norvig abstract classes), bfs.py (FIFO queue search), and dfs.py (LIFO stack with pruning).</a:t>
            </a:r>
          </a:p>
          <a:p>
            <a:pPr>
              <a:spcBef>
                <a:spcPts val="400"/>
              </a:spcBef>
              <a:defRPr b="1" sz="1200">
                <a:solidFill>
                  <a:srgbClr val="F8FAFC"/>
                </a:solidFill>
              </a:defRPr>
            </a:pPr>
            <a:r>
              <a:t>• ai_engine/problems/ (Problem Formulations): </a:t>
            </a:r>
            <a:r>
              <a:rPr b="0" sz="1100">
                <a:solidFill>
                  <a:srgbClr val="94A3B8"/>
                </a:solidFill>
              </a:rPr>
              <a:t>allergen_substitution.py (BFS formulation) and menu_constraints.py (DFS course packaging formulation).</a:t>
            </a:r>
          </a:p>
          <a:p>
            <a:pPr>
              <a:spcBef>
                <a:spcPts val="400"/>
              </a:spcBef>
              <a:defRPr b="1" sz="1200">
                <a:solidFill>
                  <a:srgbClr val="F8FAFC"/>
                </a:solidFill>
              </a:defRPr>
            </a:pPr>
            <a:r>
              <a:t>• app.py (Presentation Layer): </a:t>
            </a:r>
            <a:r>
              <a:rPr b="0" sz="1100">
                <a:solidFill>
                  <a:srgbClr val="94A3B8"/>
                </a:solidFill>
              </a:rPr>
              <a:t>Interactive Streamlit web application providing Next.js-styled dashboards, metric cards, and live solver controls.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SECTION 4: FUNCTIONAL FEATURES &amp; DATA CONTRACTS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4. Proposed Design &amp; Working: Features &amp; Expected Input/Output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011680"/>
                <a:gridCol w="3108960"/>
                <a:gridCol w="3230575"/>
              </a:tblGrid>
              <a:tr h="97536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Module &amp; Feature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AI Algorithm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Expected Input Parameters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Expected Output Deliverable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975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Module A:</a:t>
                      </a:r>
                      <a:br/>
                      <a:r>
                        <a:t>Allergen Safe-Path Finder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Breadth-First Search (BFS)</a:t>
                      </a:r>
                      <a:br/>
                      <a:r>
                        <a:t>FIFO Queue (deque)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• Original recipe ingredients list</a:t>
                      </a:r>
                      <a:br/>
                      <a:r>
                        <a:t>• Target allergens to eliminate</a:t>
                      </a:r>
                      <a:br/>
                      <a:r>
                        <a:t>• Allowed substitution graph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• Minimal substitution chain (e.g. 1 swap)</a:t>
                      </a:r>
                      <a:br/>
                      <a:r>
                        <a:t>• Final safe recipe ingredient set</a:t>
                      </a:r>
                      <a:br/>
                      <a:r>
                        <a:t>• Nodes expanded, depth, runtime ms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</a:tr>
              <a:tr h="975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Module B:</a:t>
                      </a:r>
                      <a:br/>
                      <a:r>
                        <a:t>Menu Constraint Solver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Depth-First Search (DFS)</a:t>
                      </a:r>
                      <a:br/>
                      <a:r>
                        <a:t>LIFO Stack + Branch Pruning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• Course slots: [Starter, Main, Dessert]</a:t>
                      </a:r>
                      <a:br/>
                      <a:r>
                        <a:t>• Per-head max budget (e.g. $44)</a:t>
                      </a:r>
                      <a:br/>
                      <a:r>
                        <a:t>• Dietary minimums (Veg &gt;= 1, GF &gt;= 2)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• Optimal 3-course package combinations</a:t>
                      </a:r>
                      <a:br/>
                      <a:r>
                        <a:t>• Exact total price per head</a:t>
                      </a:r>
                      <a:br/>
                      <a:r>
                        <a:t>• Nodes expanded with vs without pruning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846320"/>
            <a:ext cx="10728655" cy="15544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D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047488"/>
            <a:ext cx="1018001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User Experience &amp; Safety Safeguards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30352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8FAFC"/>
                </a:solidFill>
              </a:defRPr>
            </a:pPr>
            <a:r>
              <a:t>• Event-Driven Execution: The user selects real catering bookings from the Events Hub; parameters automatically populate the BFS/DFS search engines.</a:t>
            </a:r>
          </a:p>
          <a:p>
            <a:pPr>
              <a:spcBef>
                <a:spcPts val="400"/>
              </a:spcBef>
              <a:defRPr sz="1150">
                <a:solidFill>
                  <a:srgbClr val="F59E0B"/>
                </a:solidFill>
              </a:defRPr>
            </a:pPr>
            <a:r>
              <a:t>• Kitchen Safety Disclaimer: Automatically attaches verification notices advising chefs to cross-check physical manufacturer packaging.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SECTION 5: LIVE TEST RESULTS &amp; PERFORMANCE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5. Results &amp; Conclusion: Demonstration &amp; Benchmarks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D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55648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Sample Output: Live Event Scenarios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38BDF8"/>
                </a:solidFill>
              </a:defRPr>
            </a:pPr>
            <a:r>
              <a:t>• Scenario 1: TechCorp Leadership Summit:</a:t>
            </a:r>
            <a:br/>
            <a:r>
              <a:rPr b="0" sz="1100">
                <a:solidFill>
                  <a:srgbClr val="94A3B8"/>
                </a:solidFill>
              </a:rPr>
              <a:t>Problem: Eliminate severe Peanut allergy from Thai Satay Skewers.
Output: Swap Peanut Butter -&gt; Sunflower Seed Butter.
Result: 1 swap, 2 nodes expanded, 0.12 ms execution.</a:t>
            </a:r>
          </a:p>
          <a:p>
            <a:pPr>
              <a:spcBef>
                <a:spcPts val="1000"/>
              </a:spcBef>
              <a:defRPr b="1" sz="1200">
                <a:solidFill>
                  <a:srgbClr val="38BDF8"/>
                </a:solidFill>
              </a:defRPr>
            </a:pPr>
            <a:r>
              <a:t>• Scenario 2: Vance Executive Board Dinner:</a:t>
            </a:r>
            <a:br/>
            <a:r>
              <a:rPr b="0" sz="1100">
                <a:solidFill>
                  <a:srgbClr val="94A3B8"/>
                </a:solidFill>
              </a:rPr>
              <a:t>Problem: Budget $44/head, strictly &gt;= 2 Gluten-Free dishes.
Output: Bruschetta -&gt; Caprese Salad, Salmon Fillet, Berry Pavlova.
Result: Total $41.00/head (within budget), 1.4 ms execution.</a:t>
            </a:r>
          </a:p>
          <a:p>
            <a:pPr>
              <a:spcBef>
                <a:spcPts val="1000"/>
              </a:spcBef>
              <a:defRPr b="1" sz="1200">
                <a:solidFill>
                  <a:srgbClr val="38BDF8"/>
                </a:solidFill>
              </a:defRPr>
            </a:pPr>
            <a:r>
              <a:t>• Scenario 3: Greenfield BioTech Gala:</a:t>
            </a:r>
            <a:br/>
            <a:r>
              <a:rPr b="0" sz="1100">
                <a:solidFill>
                  <a:srgbClr val="94A3B8"/>
                </a:solidFill>
              </a:rPr>
              <a:t>Problem: Budget $42/head, Dairy-Free adaptation for 120 guests.
Output: Multi-solution DFS ranked packages generated in 1.8 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120640" cy="47548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D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755648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Empirical Benchmark: Pruned vs Unpruned DFS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Benchmark on 3-Course Menu Problem (35 dish catalog):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Unpruned DFS (Brute-Force): </a:t>
            </a:r>
            <a:r>
              <a:rPr b="0" sz="1100">
                <a:solidFill>
                  <a:srgbClr val="94A3B8"/>
                </a:solidFill>
              </a:rPr>
              <a:t>Expands 42 nodes before finding the first compliant package, exploring doomed branches where appetizers already exhaust budget.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Pruned DFS (Branch-and-Bound): </a:t>
            </a:r>
            <a:r>
              <a:rPr b="0" sz="1100">
                <a:solidFill>
                  <a:srgbClr val="94A3B8"/>
                </a:solidFill>
              </a:rPr>
              <a:t>Expands only 11 nodes (73.8% reduction in node expansions) by cutting branches the moment running price &gt; budget.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Runtime Speedup: </a:t>
            </a:r>
            <a:r>
              <a:rPr b="0" sz="1100">
                <a:solidFill>
                  <a:srgbClr val="94A3B8"/>
                </a:solidFill>
              </a:rPr>
              <a:t>Runtime drops from 4.8 ms to 1.4 ms, demonstrating that early constraint pruning effectively prevents combinatorial explosion.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Frontier Space Efficiency: </a:t>
            </a:r>
            <a:r>
              <a:rPr b="0" sz="1100">
                <a:solidFill>
                  <a:srgbClr val="94A3B8"/>
                </a:solidFill>
              </a:rPr>
              <a:t>DFS peak stack size remained at &lt;= 4 nodes, verifying linear O(b * m) space behavior.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SECTION 5: SUMMARY, CURRICULUM VALIDATION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5. Results &amp; Conclusion: Key Takeaways &amp;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8655" cy="47548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966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Core Takeaways from Labs 01–05 Implementation:</a:t>
            </a:r>
          </a:p>
          <a:p>
            <a:pPr>
              <a:spcBef>
                <a:spcPts val="1000"/>
              </a:spcBef>
              <a:defRPr b="1" sz="1300">
                <a:solidFill>
                  <a:srgbClr val="38BDF8"/>
                </a:solidFill>
              </a:defRPr>
            </a:pPr>
            <a:r>
              <a:t>1. Direct Academic Transfer: </a:t>
            </a:r>
            <a:r>
              <a:rPr b="0" sz="1200">
                <a:solidFill>
                  <a:srgbClr val="94A3B8"/>
                </a:solidFill>
              </a:rPr>
              <a:t>Abstract theoretical search algorithms (BFS &amp; DFS) formulated by Russell &amp; Norvig translate flawlessly into real-world culinary safety and business budgeting.</a:t>
            </a:r>
          </a:p>
          <a:p>
            <a:pPr>
              <a:spcBef>
                <a:spcPts val="1000"/>
              </a:spcBef>
              <a:defRPr b="1" sz="1300">
                <a:solidFill>
                  <a:srgbClr val="38BDF8"/>
                </a:solidFill>
              </a:defRPr>
            </a:pPr>
            <a:r>
              <a:t>2. Right Algorithm for the Right Problem: </a:t>
            </a:r>
            <a:r>
              <a:rPr b="0" sz="1200">
                <a:solidFill>
                  <a:srgbClr val="94A3B8"/>
                </a:solidFill>
              </a:rPr>
              <a:t>BFS is mathematically ideal for allergen substitution where minimal alterations matter. DFS is ideal for multi-course meal construction where memory efficiency and branch pruning dominate.</a:t>
            </a:r>
          </a:p>
          <a:p>
            <a:pPr>
              <a:spcBef>
                <a:spcPts val="1000"/>
              </a:spcBef>
              <a:defRPr b="1" sz="1300">
                <a:solidFill>
                  <a:srgbClr val="38BDF8"/>
                </a:solidFill>
              </a:defRPr>
            </a:pPr>
            <a:r>
              <a:t>3. Measurable Algorithmic Optimization: </a:t>
            </a:r>
            <a:r>
              <a:rPr b="0" sz="1200">
                <a:solidFill>
                  <a:srgbClr val="94A3B8"/>
                </a:solidFill>
              </a:rPr>
              <a:t>Branch-and-bound pruning delivered a verified ~74% reduction in state evaluations, proving the power of uninformed pruning heuristics.</a:t>
            </a:r>
          </a:p>
          <a:p>
            <a:pPr>
              <a:spcBef>
                <a:spcPts val="1000"/>
              </a:spcBef>
              <a:defRPr b="1" sz="1300">
                <a:solidFill>
                  <a:srgbClr val="38BDF8"/>
                </a:solidFill>
              </a:defRPr>
            </a:pPr>
            <a:r>
              <a:t>4. Lightweight &amp; Production-Ready: </a:t>
            </a:r>
            <a:r>
              <a:rPr b="0" sz="1200">
                <a:solidFill>
                  <a:srgbClr val="94A3B8"/>
                </a:solidFill>
              </a:rPr>
              <a:t>Zero external database overhead. Pure Python data structures deliver sub-2ms response times with an intuitive, executive-ready interface.</a:t>
            </a:r>
          </a:p>
          <a:p>
            <a:br/>
            <a:pPr algn="ctr">
              <a:spcBef>
                <a:spcPts val="1600"/>
              </a:spcBef>
              <a:defRPr sz="1600" b="1">
                <a:solidFill>
                  <a:srgbClr val="10B981"/>
                </a:solidFill>
              </a:defRPr>
            </a:pPr>
            <a:r>
              <a:t>Ready for Live Code Walkthrough and Instructor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